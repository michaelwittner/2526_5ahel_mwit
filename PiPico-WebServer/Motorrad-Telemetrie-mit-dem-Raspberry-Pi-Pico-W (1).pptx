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8" r:id="rId11"/>
    <p:sldId id="267" r:id="rId12"/>
    <p:sldId id="264" r:id="rId13"/>
    <p:sldId id="265" r:id="rId14"/>
  </p:sldIdLst>
  <p:sldSz cx="14630400" cy="8229600"/>
  <p:notesSz cx="7104063" cy="10234613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</p:embeddedFont>
    <p:embeddedFont>
      <p:font typeface="Roboto Slab" pitchFamily="2" charset="0"/>
      <p:regular r:id="rId21"/>
    </p:embeddedFont>
    <p:embeddedFont>
      <p:font typeface="Roboto Slab Light" pitchFamily="2" charset="0"/>
      <p:regular r:id="rId2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2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FBDB-134B-FB4B-B46E-D0600844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3B7D3-1396-0E24-91A3-B8D58D6C5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A1FBF-162C-2139-8604-486535A5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ADCC3-7224-5A98-95DA-954224AA3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88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F3834-AE3A-BEDF-9B0A-468F7E1B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9C3B3-9FC9-073E-234C-A6DADAB34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5731F-743A-0732-02AD-EA16EC419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333D2-3236-D696-AED7-0D61F491E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40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348" tIns="34674" rIns="69348" bIns="3467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348" tIns="34674" rIns="69348" bIns="34674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atasheets.raspberrypi.com/soft/flash_nuke.uf2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2112"/>
            <a:ext cx="126540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Willkommen zur Präsentation meines Projekts: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61053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Motorrad-Telemetrie mit dem Raspberry Pi Pico W</a:t>
            </a:r>
            <a:endParaRPr lang="en-US" sz="6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165" y="836890"/>
            <a:ext cx="1359456" cy="392549"/>
          </a:xfrm>
          <a:prstGeom prst="roundRect">
            <a:avLst>
              <a:gd name="adj" fmla="val 6518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874038" y="900827"/>
            <a:ext cx="1103709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GRUNDLAGEN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6165" y="1309568"/>
            <a:ext cx="7216854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Der Raspberry Pi Pico W - Überblick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746165" y="2143006"/>
            <a:ext cx="13138071" cy="99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Raspberry Pi Pico W ist ein kompakter Mikrocontroller mit integriertem WLAN, ideal für IoT- und Embedded-Projekte, die drahtlose Konnektivität benötigen. Er kombiniert geringe Größe und geringen Stromverbrauch mit ausreichender Rechenleistung für viele Telemetrie- und Steuerungsaufgaben.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6165" y="3361015"/>
            <a:ext cx="4245769" cy="1210270"/>
          </a:xfrm>
          <a:prstGeom prst="roundRect">
            <a:avLst>
              <a:gd name="adj" fmla="val 264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959287" y="3574137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Prozessor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59287" y="4027289"/>
            <a:ext cx="3819525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Dual-Core ARM Cortex-M0+ @ 133 MHz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192316" y="3361015"/>
            <a:ext cx="4245769" cy="1210270"/>
          </a:xfrm>
          <a:prstGeom prst="roundRect">
            <a:avLst>
              <a:gd name="adj" fmla="val 264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405438" y="3574137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RAM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405438" y="4027289"/>
            <a:ext cx="3819525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264 KB SRAM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38467" y="3361015"/>
            <a:ext cx="4245769" cy="1210270"/>
          </a:xfrm>
          <a:prstGeom prst="roundRect">
            <a:avLst>
              <a:gd name="adj" fmla="val 264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9851588" y="3574137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Speicher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851588" y="4027289"/>
            <a:ext cx="3819525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MB Flash-Speicher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6165" y="4771668"/>
            <a:ext cx="4245769" cy="1210270"/>
          </a:xfrm>
          <a:prstGeom prst="roundRect">
            <a:avLst>
              <a:gd name="adj" fmla="val 264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959287" y="4984790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WLAN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59287" y="5437942"/>
            <a:ext cx="3819525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802.11n (2.4 GHz)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192316" y="4771668"/>
            <a:ext cx="4245769" cy="1210270"/>
          </a:xfrm>
          <a:prstGeom prst="roundRect">
            <a:avLst>
              <a:gd name="adj" fmla="val 264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5405438" y="4984790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Schnittstellen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5405438" y="5437942"/>
            <a:ext cx="3819525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GPIO, SPI, I2C, UART, USB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638467" y="4771668"/>
            <a:ext cx="4245769" cy="1210270"/>
          </a:xfrm>
          <a:prstGeom prst="roundRect">
            <a:avLst>
              <a:gd name="adj" fmla="val 264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9851588" y="4984790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Programmierung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9851588" y="5437942"/>
            <a:ext cx="3819525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MicroPython oder C/C++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46165" y="6182320"/>
            <a:ext cx="13138071" cy="1210270"/>
          </a:xfrm>
          <a:prstGeom prst="roundRect">
            <a:avLst>
              <a:gd name="adj" fmla="val 264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959287" y="6395442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Stromversorgung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959287" y="6848594"/>
            <a:ext cx="12711827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1.8–5.5 V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642" y="869037"/>
            <a:ext cx="1204317" cy="312658"/>
          </a:xfrm>
          <a:prstGeom prst="roundRect">
            <a:avLst>
              <a:gd name="adj" fmla="val 6878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1240155" y="922734"/>
            <a:ext cx="989290" cy="205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CODE-BEISPIEL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2642" y="1238250"/>
            <a:ext cx="6969323" cy="44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Minimaler MicroPython Webserver-Code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2642" y="1898452"/>
            <a:ext cx="12365117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grundlegendes Verständnis der Socket-Programmierung ist entscheidend. Dieser vereinfachte Code-Ausschnitt demonstriert die Kernschritte zur Initialisierung eines Webservers auf dem Pico W: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2642" y="2570798"/>
            <a:ext cx="12365117" cy="4373880"/>
          </a:xfrm>
          <a:prstGeom prst="roundRect">
            <a:avLst>
              <a:gd name="adj" fmla="val 615"/>
            </a:avLst>
          </a:prstGeom>
          <a:solidFill>
            <a:srgbClr val="2D34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1123712" y="2570798"/>
            <a:ext cx="6126688" cy="4373880"/>
          </a:xfrm>
          <a:prstGeom prst="roundRect">
            <a:avLst>
              <a:gd name="adj" fmla="val 615"/>
            </a:avLst>
          </a:prstGeom>
          <a:solidFill>
            <a:srgbClr val="2D3440"/>
          </a:solidFill>
          <a:ln/>
        </p:spPr>
        <p:txBody>
          <a:bodyPr/>
          <a:lstStyle/>
          <a:p>
            <a:r>
              <a:rPr lang="de-AT" sz="1200" dirty="0" err="1">
                <a:solidFill>
                  <a:schemeClr val="bg1"/>
                </a:solidFill>
              </a:rPr>
              <a:t>import</a:t>
            </a:r>
            <a:r>
              <a:rPr lang="de-AT" sz="1200" dirty="0">
                <a:solidFill>
                  <a:schemeClr val="bg1"/>
                </a:solidFill>
              </a:rPr>
              <a:t> network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import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uasyncio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as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asyncio</a:t>
            </a:r>
            <a:endParaRPr lang="de-AT" sz="1200" dirty="0">
              <a:solidFill>
                <a:schemeClr val="bg1"/>
              </a:solidFill>
            </a:endParaRPr>
          </a:p>
          <a:p>
            <a:endParaRPr lang="de-AT" sz="1200" dirty="0">
              <a:solidFill>
                <a:schemeClr val="bg1"/>
              </a:solidFill>
            </a:endParaRPr>
          </a:p>
          <a:p>
            <a:r>
              <a:rPr lang="de-AT" sz="1200" dirty="0">
                <a:solidFill>
                  <a:schemeClr val="bg1"/>
                </a:solidFill>
              </a:rPr>
              <a:t># 1. </a:t>
            </a:r>
            <a:r>
              <a:rPr lang="de-AT" sz="1200" dirty="0" err="1">
                <a:solidFill>
                  <a:schemeClr val="bg1"/>
                </a:solidFill>
              </a:rPr>
              <a:t>WLAnetworkN</a:t>
            </a:r>
            <a:r>
              <a:rPr lang="de-AT" sz="1200" dirty="0">
                <a:solidFill>
                  <a:schemeClr val="bg1"/>
                </a:solidFill>
              </a:rPr>
              <a:t>-Verbindung aufbauen (Access Point Modus)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ap</a:t>
            </a:r>
            <a:r>
              <a:rPr lang="de-AT" sz="1200" dirty="0">
                <a:solidFill>
                  <a:schemeClr val="bg1"/>
                </a:solidFill>
              </a:rPr>
              <a:t> =.WLAN(</a:t>
            </a:r>
            <a:r>
              <a:rPr lang="de-AT" sz="1200" dirty="0" err="1">
                <a:solidFill>
                  <a:schemeClr val="bg1"/>
                </a:solidFill>
              </a:rPr>
              <a:t>network.AP_IF</a:t>
            </a:r>
            <a:r>
              <a:rPr lang="de-AT" sz="1200" dirty="0">
                <a:solidFill>
                  <a:schemeClr val="bg1"/>
                </a:solidFill>
              </a:rPr>
              <a:t>)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ap.active</a:t>
            </a:r>
            <a:r>
              <a:rPr lang="de-AT" sz="1200" dirty="0">
                <a:solidFill>
                  <a:schemeClr val="bg1"/>
                </a:solidFill>
              </a:rPr>
              <a:t>(True)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ap.config</a:t>
            </a:r>
            <a:r>
              <a:rPr lang="de-AT" sz="1200" dirty="0">
                <a:solidFill>
                  <a:schemeClr val="bg1"/>
                </a:solidFill>
              </a:rPr>
              <a:t>(</a:t>
            </a:r>
            <a:r>
              <a:rPr lang="de-AT" sz="1200" dirty="0" err="1">
                <a:solidFill>
                  <a:schemeClr val="bg1"/>
                </a:solidFill>
              </a:rPr>
              <a:t>essid</a:t>
            </a:r>
            <a:r>
              <a:rPr lang="de-AT" sz="1200" dirty="0">
                <a:solidFill>
                  <a:schemeClr val="bg1"/>
                </a:solidFill>
              </a:rPr>
              <a:t>="</a:t>
            </a:r>
            <a:r>
              <a:rPr lang="de-AT" sz="1200" dirty="0" err="1">
                <a:solidFill>
                  <a:schemeClr val="bg1"/>
                </a:solidFill>
              </a:rPr>
              <a:t>Pico_W_Server</a:t>
            </a:r>
            <a:r>
              <a:rPr lang="de-AT" sz="1200" dirty="0">
                <a:solidFill>
                  <a:schemeClr val="bg1"/>
                </a:solidFill>
              </a:rPr>
              <a:t>", </a:t>
            </a:r>
            <a:r>
              <a:rPr lang="de-AT" sz="1200" dirty="0" err="1">
                <a:solidFill>
                  <a:schemeClr val="bg1"/>
                </a:solidFill>
              </a:rPr>
              <a:t>password</a:t>
            </a:r>
            <a:r>
              <a:rPr lang="de-AT" sz="1200" dirty="0">
                <a:solidFill>
                  <a:schemeClr val="bg1"/>
                </a:solidFill>
              </a:rPr>
              <a:t>="password123")</a:t>
            </a:r>
          </a:p>
          <a:p>
            <a:endParaRPr lang="de-AT" sz="1200" dirty="0">
              <a:solidFill>
                <a:schemeClr val="bg1"/>
              </a:solidFill>
            </a:endParaRPr>
          </a:p>
          <a:p>
            <a:r>
              <a:rPr lang="de-AT" sz="1200" dirty="0">
                <a:solidFill>
                  <a:schemeClr val="bg1"/>
                </a:solidFill>
              </a:rPr>
              <a:t># 2. Die Funktion, die auf Anfragen reagiert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async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def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handle_client</a:t>
            </a:r>
            <a:r>
              <a:rPr lang="de-AT" sz="1200" dirty="0">
                <a:solidFill>
                  <a:schemeClr val="bg1"/>
                </a:solidFill>
              </a:rPr>
              <a:t>(</a:t>
            </a:r>
            <a:r>
              <a:rPr lang="de-AT" sz="1200" dirty="0" err="1">
                <a:solidFill>
                  <a:schemeClr val="bg1"/>
                </a:solidFill>
              </a:rPr>
              <a:t>reader</a:t>
            </a:r>
            <a:r>
              <a:rPr lang="de-AT" sz="1200" dirty="0">
                <a:solidFill>
                  <a:schemeClr val="bg1"/>
                </a:solidFill>
              </a:rPr>
              <a:t>, </a:t>
            </a:r>
            <a:r>
              <a:rPr lang="de-AT" sz="1200" dirty="0" err="1">
                <a:solidFill>
                  <a:schemeClr val="bg1"/>
                </a:solidFill>
              </a:rPr>
              <a:t>writer</a:t>
            </a:r>
            <a:r>
              <a:rPr lang="de-AT" sz="1200" dirty="0">
                <a:solidFill>
                  <a:schemeClr val="bg1"/>
                </a:solidFill>
              </a:rPr>
              <a:t>):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# Die Anfrage vom Browser lesen (wird hier ignoriert, da wir nur eine Seite haben)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request</a:t>
            </a:r>
            <a:r>
              <a:rPr lang="de-AT" sz="1200" dirty="0">
                <a:solidFill>
                  <a:schemeClr val="bg1"/>
                </a:solidFill>
              </a:rPr>
              <a:t> = </a:t>
            </a:r>
            <a:r>
              <a:rPr lang="de-AT" sz="1200" dirty="0" err="1">
                <a:solidFill>
                  <a:schemeClr val="bg1"/>
                </a:solidFill>
              </a:rPr>
              <a:t>await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reader.read</a:t>
            </a:r>
            <a:r>
              <a:rPr lang="de-AT" sz="1200" dirty="0">
                <a:solidFill>
                  <a:schemeClr val="bg1"/>
                </a:solidFill>
              </a:rPr>
              <a:t>(1024)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# HTTP-Antwort senden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response</a:t>
            </a:r>
            <a:r>
              <a:rPr lang="de-AT" sz="1200" dirty="0">
                <a:solidFill>
                  <a:schemeClr val="bg1"/>
                </a:solidFill>
              </a:rPr>
              <a:t> = "HTTP/1.1 200 OK\r\</a:t>
            </a:r>
            <a:r>
              <a:rPr lang="de-AT" sz="1200" dirty="0" err="1">
                <a:solidFill>
                  <a:schemeClr val="bg1"/>
                </a:solidFill>
              </a:rPr>
              <a:t>nContent</a:t>
            </a:r>
            <a:r>
              <a:rPr lang="de-AT" sz="1200" dirty="0">
                <a:solidFill>
                  <a:schemeClr val="bg1"/>
                </a:solidFill>
              </a:rPr>
              <a:t>-Type: </a:t>
            </a:r>
            <a:r>
              <a:rPr lang="de-AT" sz="1200" dirty="0" err="1">
                <a:solidFill>
                  <a:schemeClr val="bg1"/>
                </a:solidFill>
              </a:rPr>
              <a:t>text</a:t>
            </a:r>
            <a:r>
              <a:rPr lang="de-AT" sz="1200" dirty="0">
                <a:solidFill>
                  <a:schemeClr val="bg1"/>
                </a:solidFill>
              </a:rPr>
              <a:t>/</a:t>
            </a:r>
            <a:r>
              <a:rPr lang="de-AT" sz="1200" dirty="0" err="1">
                <a:solidFill>
                  <a:schemeClr val="bg1"/>
                </a:solidFill>
              </a:rPr>
              <a:t>html</a:t>
            </a:r>
            <a:r>
              <a:rPr lang="de-AT" sz="1200" dirty="0">
                <a:solidFill>
                  <a:schemeClr val="bg1"/>
                </a:solidFill>
              </a:rPr>
              <a:t>\r\n\r\n"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response</a:t>
            </a:r>
            <a:r>
              <a:rPr lang="de-AT" sz="1200" dirty="0">
                <a:solidFill>
                  <a:schemeClr val="bg1"/>
                </a:solidFill>
              </a:rPr>
              <a:t> += "&lt;</a:t>
            </a:r>
            <a:r>
              <a:rPr lang="de-AT" sz="1200" dirty="0" err="1">
                <a:solidFill>
                  <a:schemeClr val="bg1"/>
                </a:solidFill>
              </a:rPr>
              <a:t>html</a:t>
            </a:r>
            <a:r>
              <a:rPr lang="de-AT" sz="1200" dirty="0">
                <a:solidFill>
                  <a:schemeClr val="bg1"/>
                </a:solidFill>
              </a:rPr>
              <a:t>&gt;&lt;</a:t>
            </a:r>
            <a:r>
              <a:rPr lang="de-AT" sz="1200" dirty="0" err="1">
                <a:solidFill>
                  <a:schemeClr val="bg1"/>
                </a:solidFill>
              </a:rPr>
              <a:t>body</a:t>
            </a:r>
            <a:r>
              <a:rPr lang="de-AT" sz="1200" dirty="0">
                <a:solidFill>
                  <a:schemeClr val="bg1"/>
                </a:solidFill>
              </a:rPr>
              <a:t>&gt;&lt;h1&gt;Hallo vom Pico W!&lt;/h1&gt;&lt;/</a:t>
            </a:r>
            <a:r>
              <a:rPr lang="de-AT" sz="1200" dirty="0" err="1">
                <a:solidFill>
                  <a:schemeClr val="bg1"/>
                </a:solidFill>
              </a:rPr>
              <a:t>body</a:t>
            </a:r>
            <a:r>
              <a:rPr lang="de-AT" sz="1200" dirty="0">
                <a:solidFill>
                  <a:schemeClr val="bg1"/>
                </a:solidFill>
              </a:rPr>
              <a:t>&gt;&lt;/</a:t>
            </a:r>
            <a:r>
              <a:rPr lang="de-AT" sz="1200" dirty="0" err="1">
                <a:solidFill>
                  <a:schemeClr val="bg1"/>
                </a:solidFill>
              </a:rPr>
              <a:t>html</a:t>
            </a:r>
            <a:r>
              <a:rPr lang="de-AT" sz="1200" dirty="0">
                <a:solidFill>
                  <a:schemeClr val="bg1"/>
                </a:solidFill>
              </a:rPr>
              <a:t>&gt;"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writer.write</a:t>
            </a:r>
            <a:r>
              <a:rPr lang="de-AT" sz="1200" dirty="0">
                <a:solidFill>
                  <a:schemeClr val="bg1"/>
                </a:solidFill>
              </a:rPr>
              <a:t>(</a:t>
            </a:r>
            <a:r>
              <a:rPr lang="de-AT" sz="1200" dirty="0" err="1">
                <a:solidFill>
                  <a:schemeClr val="bg1"/>
                </a:solidFill>
              </a:rPr>
              <a:t>response</a:t>
            </a:r>
            <a:r>
              <a:rPr lang="de-AT" sz="1200" dirty="0">
                <a:solidFill>
                  <a:schemeClr val="bg1"/>
                </a:solidFill>
              </a:rPr>
              <a:t>)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await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writer.drain</a:t>
            </a:r>
            <a:r>
              <a:rPr lang="de-AT" sz="1200" dirty="0">
                <a:solidFill>
                  <a:schemeClr val="bg1"/>
                </a:solidFill>
              </a:rPr>
              <a:t>() # Warten, bis alles gesendet wurde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writer.close</a:t>
            </a:r>
            <a:r>
              <a:rPr lang="de-AT" sz="1200" dirty="0">
                <a:solidFill>
                  <a:schemeClr val="bg1"/>
                </a:solidFill>
              </a:rPr>
              <a:t>()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await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writer.wait_closed</a:t>
            </a:r>
            <a:r>
              <a:rPr lang="de-AT" sz="1200" dirty="0">
                <a:solidFill>
                  <a:schemeClr val="bg1"/>
                </a:solidFill>
              </a:rPr>
              <a:t>()</a:t>
            </a:r>
          </a:p>
          <a:p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302901" y="2705100"/>
            <a:ext cx="12024598" cy="410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2642" y="7103864"/>
            <a:ext cx="123651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Dieses Beispiel zeigt die Einfachheit, mit der ein Webserver für einfache Anfragen eingerichtet werden kann.</a:t>
            </a:r>
            <a:endParaRPr lang="en-US" sz="14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F7C00A7-CFEC-10AD-038B-FEE508F14580}"/>
              </a:ext>
            </a:extLst>
          </p:cNvPr>
          <p:cNvSpPr txBox="1"/>
          <p:nvPr/>
        </p:nvSpPr>
        <p:spPr>
          <a:xfrm>
            <a:off x="7315200" y="2705100"/>
            <a:ext cx="606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>
                <a:solidFill>
                  <a:schemeClr val="bg1"/>
                </a:solidFill>
              </a:rPr>
              <a:t># 3. Den Server-Task starten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async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def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main</a:t>
            </a:r>
            <a:r>
              <a:rPr lang="de-AT" sz="1200" dirty="0">
                <a:solidFill>
                  <a:schemeClr val="bg1"/>
                </a:solidFill>
              </a:rPr>
              <a:t>():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# Server auf Port 80 (Standard Web) starten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server</a:t>
            </a:r>
            <a:r>
              <a:rPr lang="de-AT" sz="1200" dirty="0">
                <a:solidFill>
                  <a:schemeClr val="bg1"/>
                </a:solidFill>
              </a:rPr>
              <a:t> = </a:t>
            </a:r>
            <a:r>
              <a:rPr lang="de-AT" sz="1200" dirty="0" err="1">
                <a:solidFill>
                  <a:schemeClr val="bg1"/>
                </a:solidFill>
              </a:rPr>
              <a:t>await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asyncio.start_server</a:t>
            </a:r>
            <a:r>
              <a:rPr lang="de-AT" sz="1200" dirty="0">
                <a:solidFill>
                  <a:schemeClr val="bg1"/>
                </a:solidFill>
              </a:rPr>
              <a:t>(</a:t>
            </a:r>
            <a:r>
              <a:rPr lang="de-AT" sz="1200" dirty="0" err="1">
                <a:solidFill>
                  <a:schemeClr val="bg1"/>
                </a:solidFill>
              </a:rPr>
              <a:t>handle_client</a:t>
            </a:r>
            <a:r>
              <a:rPr lang="de-AT" sz="1200" dirty="0">
                <a:solidFill>
                  <a:schemeClr val="bg1"/>
                </a:solidFill>
              </a:rPr>
              <a:t>, "0.0.0.0", 80)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print</a:t>
            </a:r>
            <a:r>
              <a:rPr lang="de-AT" sz="1200" dirty="0">
                <a:solidFill>
                  <a:schemeClr val="bg1"/>
                </a:solidFill>
              </a:rPr>
              <a:t>("Server läuft! Verbinde dich mit '</a:t>
            </a:r>
            <a:r>
              <a:rPr lang="de-AT" sz="1200" dirty="0" err="1">
                <a:solidFill>
                  <a:schemeClr val="bg1"/>
                </a:solidFill>
              </a:rPr>
              <a:t>Pico_W_Server</a:t>
            </a:r>
            <a:r>
              <a:rPr lang="de-AT" sz="1200" dirty="0">
                <a:solidFill>
                  <a:schemeClr val="bg1"/>
                </a:solidFill>
              </a:rPr>
              <a:t>' und rufe 192.168.4.1 auf.")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while</a:t>
            </a:r>
            <a:r>
              <a:rPr lang="de-AT" sz="1200" dirty="0">
                <a:solidFill>
                  <a:schemeClr val="bg1"/>
                </a:solidFill>
              </a:rPr>
              <a:t> True: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    </a:t>
            </a:r>
            <a:r>
              <a:rPr lang="de-AT" sz="1200" dirty="0" err="1">
                <a:solidFill>
                  <a:schemeClr val="bg1"/>
                </a:solidFill>
              </a:rPr>
              <a:t>await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asyncio.sleep</a:t>
            </a:r>
            <a:r>
              <a:rPr lang="de-AT" sz="1200" dirty="0">
                <a:solidFill>
                  <a:schemeClr val="bg1"/>
                </a:solidFill>
              </a:rPr>
              <a:t>(1) # Hält das Programm am Laufen</a:t>
            </a:r>
          </a:p>
          <a:p>
            <a:endParaRPr lang="de-AT" sz="1200" dirty="0">
              <a:solidFill>
                <a:schemeClr val="bg1"/>
              </a:solidFill>
            </a:endParaRPr>
          </a:p>
          <a:p>
            <a:r>
              <a:rPr lang="de-AT" sz="1200" dirty="0">
                <a:solidFill>
                  <a:schemeClr val="bg1"/>
                </a:solidFill>
              </a:rPr>
              <a:t># Start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try</a:t>
            </a:r>
            <a:r>
              <a:rPr lang="de-AT" sz="1200" dirty="0">
                <a:solidFill>
                  <a:schemeClr val="bg1"/>
                </a:solidFill>
              </a:rPr>
              <a:t>: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</a:t>
            </a:r>
            <a:r>
              <a:rPr lang="de-AT" sz="1200" dirty="0" err="1">
                <a:solidFill>
                  <a:schemeClr val="bg1"/>
                </a:solidFill>
              </a:rPr>
              <a:t>asyncio.run</a:t>
            </a:r>
            <a:r>
              <a:rPr lang="de-AT" sz="1200" dirty="0">
                <a:solidFill>
                  <a:schemeClr val="bg1"/>
                </a:solidFill>
              </a:rPr>
              <a:t>(</a:t>
            </a:r>
            <a:r>
              <a:rPr lang="de-AT" sz="1200" dirty="0" err="1">
                <a:solidFill>
                  <a:schemeClr val="bg1"/>
                </a:solidFill>
              </a:rPr>
              <a:t>main</a:t>
            </a:r>
            <a:r>
              <a:rPr lang="de-AT" sz="1200" dirty="0">
                <a:solidFill>
                  <a:schemeClr val="bg1"/>
                </a:solidFill>
              </a:rPr>
              <a:t>())</a:t>
            </a:r>
          </a:p>
          <a:p>
            <a:r>
              <a:rPr lang="de-AT" sz="1200" dirty="0" err="1">
                <a:solidFill>
                  <a:schemeClr val="bg1"/>
                </a:solidFill>
              </a:rPr>
              <a:t>except</a:t>
            </a:r>
            <a:r>
              <a:rPr lang="de-AT" sz="1200" dirty="0">
                <a:solidFill>
                  <a:schemeClr val="bg1"/>
                </a:solidFill>
              </a:rPr>
              <a:t>:</a:t>
            </a:r>
          </a:p>
          <a:p>
            <a:r>
              <a:rPr lang="de-AT" sz="1200" dirty="0">
                <a:solidFill>
                  <a:schemeClr val="bg1"/>
                </a:solidFill>
              </a:rPr>
              <a:t>    pass</a:t>
            </a:r>
            <a:endParaRPr lang="de-AT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F44C73-5B12-40A4-7589-A43C3E417F12}"/>
              </a:ext>
            </a:extLst>
          </p:cNvPr>
          <p:cNvSpPr/>
          <p:nvPr/>
        </p:nvSpPr>
        <p:spPr>
          <a:xfrm>
            <a:off x="1132642" y="869037"/>
            <a:ext cx="1204317" cy="312658"/>
          </a:xfrm>
          <a:prstGeom prst="roundRect">
            <a:avLst>
              <a:gd name="adj" fmla="val 6878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58231F-DE28-143A-A720-B6724689B268}"/>
              </a:ext>
            </a:extLst>
          </p:cNvPr>
          <p:cNvSpPr/>
          <p:nvPr/>
        </p:nvSpPr>
        <p:spPr>
          <a:xfrm>
            <a:off x="1240155" y="922734"/>
            <a:ext cx="989290" cy="205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CODE-BEISPIEL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C59000-8888-9521-1DBE-D7E61A9E850A}"/>
              </a:ext>
            </a:extLst>
          </p:cNvPr>
          <p:cNvSpPr/>
          <p:nvPr/>
        </p:nvSpPr>
        <p:spPr>
          <a:xfrm>
            <a:off x="1132642" y="1238250"/>
            <a:ext cx="6969323" cy="44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Minimaler </a:t>
            </a:r>
            <a:r>
              <a:rPr lang="en-US" sz="28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MicroPython</a:t>
            </a:r>
            <a:r>
              <a:rPr lang="en-US" sz="2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Webserver-Code-Download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87F8CB-FDB8-0644-FCE9-B1353B42667D}"/>
              </a:ext>
            </a:extLst>
          </p:cNvPr>
          <p:cNvSpPr/>
          <p:nvPr/>
        </p:nvSpPr>
        <p:spPr>
          <a:xfrm>
            <a:off x="1132642" y="1898452"/>
            <a:ext cx="12365117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grundlegendes Verständnis der Socket-Programmierung ist entscheidend. Dieser vereinfachte Code-Ausschnitt demonstriert die </a:t>
            </a:r>
            <a:r>
              <a:rPr lang="en-US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Kernschritte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wie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 </a:t>
            </a:r>
            <a:r>
              <a:rPr lang="en-US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über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 Webserver </a:t>
            </a:r>
            <a:r>
              <a:rPr lang="en-US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Daten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auf das Handy </a:t>
            </a:r>
            <a:r>
              <a:rPr lang="en-US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herunterladen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kann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EC7F88-7604-8063-CFE1-720E63D556B0}"/>
              </a:ext>
            </a:extLst>
          </p:cNvPr>
          <p:cNvSpPr/>
          <p:nvPr/>
        </p:nvSpPr>
        <p:spPr>
          <a:xfrm>
            <a:off x="1302901" y="2705100"/>
            <a:ext cx="12024598" cy="410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FD7068B-C8A7-0361-E38E-38961F75EFCB}"/>
              </a:ext>
            </a:extLst>
          </p:cNvPr>
          <p:cNvSpPr/>
          <p:nvPr/>
        </p:nvSpPr>
        <p:spPr>
          <a:xfrm>
            <a:off x="1132642" y="7103864"/>
            <a:ext cx="123651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Dieses Beispiel zeigt die Einfachheit, mit der ein Webserver für einfache Anfragen eingerichtet werden kann.</a:t>
            </a:r>
            <a:endParaRPr lang="en-US" sz="1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65661E78-D150-5CA0-60C3-3005305D1B6D}"/>
              </a:ext>
            </a:extLst>
          </p:cNvPr>
          <p:cNvSpPr/>
          <p:nvPr/>
        </p:nvSpPr>
        <p:spPr>
          <a:xfrm>
            <a:off x="2961443" y="408236"/>
            <a:ext cx="8889758" cy="7294305"/>
          </a:xfrm>
          <a:prstGeom prst="roundRect">
            <a:avLst>
              <a:gd name="adj" fmla="val 615"/>
            </a:avLst>
          </a:prstGeom>
          <a:solidFill>
            <a:srgbClr val="2D3440"/>
          </a:solidFill>
          <a:ln/>
        </p:spPr>
        <p:txBody>
          <a:bodyPr/>
          <a:lstStyle/>
          <a:p>
            <a:endParaRPr lang="de-AT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A0D77E9-5C86-6D39-CE19-49D8A67A4742}"/>
              </a:ext>
            </a:extLst>
          </p:cNvPr>
          <p:cNvSpPr txBox="1"/>
          <p:nvPr/>
        </p:nvSpPr>
        <p:spPr>
          <a:xfrm>
            <a:off x="3787200" y="408237"/>
            <a:ext cx="75888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import</a:t>
            </a:r>
            <a:r>
              <a:rPr lang="de-AT" dirty="0">
                <a:solidFill>
                  <a:schemeClr val="bg1"/>
                </a:solidFill>
              </a:rPr>
              <a:t> network</a:t>
            </a:r>
          </a:p>
          <a:p>
            <a:r>
              <a:rPr lang="de-AT" dirty="0" err="1">
                <a:solidFill>
                  <a:schemeClr val="bg1"/>
                </a:solidFill>
              </a:rPr>
              <a:t>import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uasyncio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as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asyncio</a:t>
            </a:r>
            <a:endParaRPr lang="de-AT" dirty="0">
              <a:solidFill>
                <a:schemeClr val="bg1"/>
              </a:solidFill>
            </a:endParaRPr>
          </a:p>
          <a:p>
            <a:r>
              <a:rPr lang="de-AT" dirty="0" err="1">
                <a:solidFill>
                  <a:schemeClr val="bg1"/>
                </a:solidFill>
              </a:rPr>
              <a:t>import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os</a:t>
            </a:r>
            <a:endParaRPr lang="de-AT" dirty="0">
              <a:solidFill>
                <a:schemeClr val="bg1"/>
              </a:solidFill>
            </a:endParaRPr>
          </a:p>
          <a:p>
            <a:endParaRPr lang="de-AT" dirty="0">
              <a:solidFill>
                <a:schemeClr val="bg1"/>
              </a:solidFill>
            </a:endParaRPr>
          </a:p>
          <a:p>
            <a:r>
              <a:rPr lang="de-AT" dirty="0">
                <a:solidFill>
                  <a:schemeClr val="bg1"/>
                </a:solidFill>
              </a:rPr>
              <a:t># 1. WLAN verbinden (Access Point Modus)</a:t>
            </a:r>
          </a:p>
          <a:p>
            <a:r>
              <a:rPr lang="de-AT" dirty="0" err="1">
                <a:solidFill>
                  <a:schemeClr val="bg1"/>
                </a:solidFill>
              </a:rPr>
              <a:t>ap</a:t>
            </a:r>
            <a:r>
              <a:rPr lang="de-AT" dirty="0">
                <a:solidFill>
                  <a:schemeClr val="bg1"/>
                </a:solidFill>
              </a:rPr>
              <a:t> = </a:t>
            </a:r>
            <a:r>
              <a:rPr lang="de-AT" dirty="0" err="1">
                <a:solidFill>
                  <a:schemeClr val="bg1"/>
                </a:solidFill>
              </a:rPr>
              <a:t>network.WLAN</a:t>
            </a:r>
            <a:r>
              <a:rPr lang="de-AT" dirty="0">
                <a:solidFill>
                  <a:schemeClr val="bg1"/>
                </a:solidFill>
              </a:rPr>
              <a:t>(</a:t>
            </a:r>
            <a:r>
              <a:rPr lang="de-AT" dirty="0" err="1">
                <a:solidFill>
                  <a:schemeClr val="bg1"/>
                </a:solidFill>
              </a:rPr>
              <a:t>network.AP_IF</a:t>
            </a:r>
            <a:r>
              <a:rPr lang="de-AT" dirty="0">
                <a:solidFill>
                  <a:schemeClr val="bg1"/>
                </a:solidFill>
              </a:rPr>
              <a:t>)</a:t>
            </a:r>
          </a:p>
          <a:p>
            <a:r>
              <a:rPr lang="de-AT" dirty="0" err="1">
                <a:solidFill>
                  <a:schemeClr val="bg1"/>
                </a:solidFill>
              </a:rPr>
              <a:t>ap.active</a:t>
            </a:r>
            <a:r>
              <a:rPr lang="de-AT" dirty="0">
                <a:solidFill>
                  <a:schemeClr val="bg1"/>
                </a:solidFill>
              </a:rPr>
              <a:t>(True)</a:t>
            </a:r>
          </a:p>
          <a:p>
            <a:r>
              <a:rPr lang="de-AT" dirty="0" err="1">
                <a:solidFill>
                  <a:schemeClr val="bg1"/>
                </a:solidFill>
              </a:rPr>
              <a:t>ap.config</a:t>
            </a:r>
            <a:r>
              <a:rPr lang="de-AT" dirty="0">
                <a:solidFill>
                  <a:schemeClr val="bg1"/>
                </a:solidFill>
              </a:rPr>
              <a:t>(</a:t>
            </a:r>
            <a:r>
              <a:rPr lang="de-AT" dirty="0" err="1">
                <a:solidFill>
                  <a:schemeClr val="bg1"/>
                </a:solidFill>
              </a:rPr>
              <a:t>essid</a:t>
            </a:r>
            <a:r>
              <a:rPr lang="de-AT" dirty="0">
                <a:solidFill>
                  <a:schemeClr val="bg1"/>
                </a:solidFill>
              </a:rPr>
              <a:t>="</a:t>
            </a:r>
            <a:r>
              <a:rPr lang="de-AT" dirty="0" err="1">
                <a:solidFill>
                  <a:schemeClr val="bg1"/>
                </a:solidFill>
              </a:rPr>
              <a:t>PicoDownloadTest</a:t>
            </a:r>
            <a:r>
              <a:rPr lang="de-AT" dirty="0">
                <a:solidFill>
                  <a:schemeClr val="bg1"/>
                </a:solidFill>
              </a:rPr>
              <a:t>", </a:t>
            </a:r>
            <a:r>
              <a:rPr lang="de-AT" dirty="0" err="1">
                <a:solidFill>
                  <a:schemeClr val="bg1"/>
                </a:solidFill>
              </a:rPr>
              <a:t>password</a:t>
            </a:r>
            <a:r>
              <a:rPr lang="de-AT" dirty="0">
                <a:solidFill>
                  <a:schemeClr val="bg1"/>
                </a:solidFill>
              </a:rPr>
              <a:t>="password123")</a:t>
            </a:r>
          </a:p>
          <a:p>
            <a:endParaRPr lang="de-AT" dirty="0">
              <a:solidFill>
                <a:schemeClr val="bg1"/>
              </a:solidFill>
            </a:endParaRPr>
          </a:p>
          <a:p>
            <a:r>
              <a:rPr lang="de-AT" dirty="0">
                <a:solidFill>
                  <a:schemeClr val="bg1"/>
                </a:solidFill>
              </a:rPr>
              <a:t># Beispiel-Variable für Maxima</a:t>
            </a:r>
          </a:p>
          <a:p>
            <a:r>
              <a:rPr lang="de-AT" dirty="0" err="1">
                <a:solidFill>
                  <a:schemeClr val="bg1"/>
                </a:solidFill>
              </a:rPr>
              <a:t>max_g</a:t>
            </a:r>
            <a:r>
              <a:rPr lang="de-AT" dirty="0">
                <a:solidFill>
                  <a:schemeClr val="bg1"/>
                </a:solidFill>
              </a:rPr>
              <a:t> = 1.85</a:t>
            </a:r>
          </a:p>
          <a:p>
            <a:endParaRPr lang="de-AT" dirty="0">
              <a:solidFill>
                <a:schemeClr val="bg1"/>
              </a:solidFill>
            </a:endParaRPr>
          </a:p>
          <a:p>
            <a:r>
              <a:rPr lang="de-AT" dirty="0" err="1">
                <a:solidFill>
                  <a:schemeClr val="bg1"/>
                </a:solidFill>
              </a:rPr>
              <a:t>async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def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handle_client</a:t>
            </a:r>
            <a:r>
              <a:rPr lang="de-AT" dirty="0">
                <a:solidFill>
                  <a:schemeClr val="bg1"/>
                </a:solidFill>
              </a:rPr>
              <a:t>(</a:t>
            </a:r>
            <a:r>
              <a:rPr lang="de-AT" dirty="0" err="1">
                <a:solidFill>
                  <a:schemeClr val="bg1"/>
                </a:solidFill>
              </a:rPr>
              <a:t>reader</a:t>
            </a:r>
            <a:r>
              <a:rPr lang="de-AT" dirty="0">
                <a:solidFill>
                  <a:schemeClr val="bg1"/>
                </a:solidFill>
              </a:rPr>
              <a:t>, </a:t>
            </a:r>
            <a:r>
              <a:rPr lang="de-AT" dirty="0" err="1">
                <a:solidFill>
                  <a:schemeClr val="bg1"/>
                </a:solidFill>
              </a:rPr>
              <a:t>writer</a:t>
            </a:r>
            <a:r>
              <a:rPr lang="de-AT" dirty="0">
                <a:solidFill>
                  <a:schemeClr val="bg1"/>
                </a:solidFill>
              </a:rPr>
              <a:t>):</a:t>
            </a:r>
          </a:p>
          <a:p>
            <a:r>
              <a:rPr lang="de-AT" dirty="0">
                <a:solidFill>
                  <a:schemeClr val="bg1"/>
                </a:solidFill>
              </a:rPr>
              <a:t>    global </a:t>
            </a:r>
            <a:r>
              <a:rPr lang="de-AT" dirty="0" err="1">
                <a:solidFill>
                  <a:schemeClr val="bg1"/>
                </a:solidFill>
              </a:rPr>
              <a:t>max_g</a:t>
            </a:r>
            <a:endParaRPr lang="de-AT" dirty="0">
              <a:solidFill>
                <a:schemeClr val="bg1"/>
              </a:solidFill>
            </a:endParaRPr>
          </a:p>
          <a:p>
            <a:r>
              <a:rPr lang="de-AT" dirty="0">
                <a:solidFill>
                  <a:schemeClr val="bg1"/>
                </a:solidFill>
              </a:rPr>
              <a:t>    </a:t>
            </a:r>
            <a:r>
              <a:rPr lang="de-AT" dirty="0" err="1">
                <a:solidFill>
                  <a:schemeClr val="bg1"/>
                </a:solidFill>
              </a:rPr>
              <a:t>try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    # Anfrage lesen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request</a:t>
            </a:r>
            <a:r>
              <a:rPr lang="de-AT" dirty="0">
                <a:solidFill>
                  <a:schemeClr val="bg1"/>
                </a:solidFill>
              </a:rPr>
              <a:t> = (</a:t>
            </a:r>
            <a:r>
              <a:rPr lang="de-AT" dirty="0" err="1">
                <a:solidFill>
                  <a:schemeClr val="bg1"/>
                </a:solidFill>
              </a:rPr>
              <a:t>await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reader.read</a:t>
            </a:r>
            <a:r>
              <a:rPr lang="de-AT" dirty="0">
                <a:solidFill>
                  <a:schemeClr val="bg1"/>
                </a:solidFill>
              </a:rPr>
              <a:t>(1024)).</a:t>
            </a:r>
            <a:r>
              <a:rPr lang="de-AT" dirty="0" err="1">
                <a:solidFill>
                  <a:schemeClr val="bg1"/>
                </a:solidFill>
              </a:rPr>
              <a:t>decode</a:t>
            </a:r>
            <a:r>
              <a:rPr lang="de-AT" dirty="0">
                <a:solidFill>
                  <a:schemeClr val="bg1"/>
                </a:solidFill>
              </a:rPr>
              <a:t>()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</a:p>
          <a:p>
            <a:r>
              <a:rPr lang="de-AT" dirty="0">
                <a:solidFill>
                  <a:schemeClr val="bg1"/>
                </a:solidFill>
              </a:rPr>
              <a:t>        # --- FALL 1: BEFEHL AUSFÜHREN (</a:t>
            </a:r>
            <a:r>
              <a:rPr lang="de-AT" dirty="0" err="1">
                <a:solidFill>
                  <a:schemeClr val="bg1"/>
                </a:solidFill>
              </a:rPr>
              <a:t>Reset</a:t>
            </a:r>
            <a:r>
              <a:rPr lang="de-AT" dirty="0">
                <a:solidFill>
                  <a:schemeClr val="bg1"/>
                </a:solidFill>
              </a:rPr>
              <a:t>) ---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if</a:t>
            </a:r>
            <a:r>
              <a:rPr lang="de-AT" dirty="0">
                <a:solidFill>
                  <a:schemeClr val="bg1"/>
                </a:solidFill>
              </a:rPr>
              <a:t> "GET /</a:t>
            </a:r>
            <a:r>
              <a:rPr lang="de-AT" dirty="0" err="1">
                <a:solidFill>
                  <a:schemeClr val="bg1"/>
                </a:solidFill>
              </a:rPr>
              <a:t>reset</a:t>
            </a:r>
            <a:r>
              <a:rPr lang="de-AT" dirty="0">
                <a:solidFill>
                  <a:schemeClr val="bg1"/>
                </a:solidFill>
              </a:rPr>
              <a:t>" in </a:t>
            </a:r>
            <a:r>
              <a:rPr lang="de-AT" dirty="0" err="1">
                <a:solidFill>
                  <a:schemeClr val="bg1"/>
                </a:solidFill>
              </a:rPr>
              <a:t>request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max_g</a:t>
            </a:r>
            <a:r>
              <a:rPr lang="de-AT" dirty="0">
                <a:solidFill>
                  <a:schemeClr val="bg1"/>
                </a:solidFill>
              </a:rPr>
              <a:t> = 0.0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print</a:t>
            </a:r>
            <a:r>
              <a:rPr lang="de-AT" dirty="0">
                <a:solidFill>
                  <a:schemeClr val="bg1"/>
                </a:solidFill>
              </a:rPr>
              <a:t>("Maxima wurde zurückgesetzt!")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# Einfache Antwort zurückgeben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writer.write</a:t>
            </a:r>
            <a:r>
              <a:rPr lang="de-AT" dirty="0">
                <a:solidFill>
                  <a:schemeClr val="bg1"/>
                </a:solidFill>
              </a:rPr>
              <a:t>("HTTP/1.1 200 OK\r\n\r\</a:t>
            </a:r>
            <a:r>
              <a:rPr lang="de-AT" dirty="0" err="1">
                <a:solidFill>
                  <a:schemeClr val="bg1"/>
                </a:solidFill>
              </a:rPr>
              <a:t>nReset</a:t>
            </a:r>
            <a:r>
              <a:rPr lang="de-AT" dirty="0">
                <a:solidFill>
                  <a:schemeClr val="bg1"/>
                </a:solidFill>
              </a:rPr>
              <a:t> erfolgreich!")</a:t>
            </a:r>
          </a:p>
          <a:p>
            <a:r>
              <a:rPr lang="de-AT" dirty="0"/>
              <a:t>           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86BF0AA-35F3-6FA2-380A-C3AFEA0938EC}"/>
              </a:ext>
            </a:extLst>
          </p:cNvPr>
          <p:cNvSpPr txBox="1"/>
          <p:nvPr/>
        </p:nvSpPr>
        <p:spPr>
          <a:xfrm>
            <a:off x="3393368" y="962235"/>
            <a:ext cx="75888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        # --- FALL 2: DATEI HERUNTERLADEN ---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elif</a:t>
            </a:r>
            <a:r>
              <a:rPr lang="de-AT" dirty="0">
                <a:solidFill>
                  <a:schemeClr val="bg1"/>
                </a:solidFill>
              </a:rPr>
              <a:t> "GET /</a:t>
            </a:r>
            <a:r>
              <a:rPr lang="de-AT" dirty="0" err="1">
                <a:solidFill>
                  <a:schemeClr val="bg1"/>
                </a:solidFill>
              </a:rPr>
              <a:t>download</a:t>
            </a:r>
            <a:r>
              <a:rPr lang="de-AT" dirty="0">
                <a:solidFill>
                  <a:schemeClr val="bg1"/>
                </a:solidFill>
              </a:rPr>
              <a:t>" in </a:t>
            </a:r>
            <a:r>
              <a:rPr lang="de-AT" dirty="0" err="1">
                <a:solidFill>
                  <a:schemeClr val="bg1"/>
                </a:solidFill>
              </a:rPr>
              <a:t>request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filename</a:t>
            </a:r>
            <a:r>
              <a:rPr lang="de-AT" dirty="0">
                <a:solidFill>
                  <a:schemeClr val="bg1"/>
                </a:solidFill>
              </a:rPr>
              <a:t> = "fahrt.csv"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try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# Header senden, damit der Browser weiß, dass eine Datei kommt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</a:t>
            </a:r>
            <a:r>
              <a:rPr lang="de-AT" dirty="0" err="1">
                <a:solidFill>
                  <a:schemeClr val="bg1"/>
                </a:solidFill>
              </a:rPr>
              <a:t>writer.write</a:t>
            </a:r>
            <a:r>
              <a:rPr lang="de-AT" dirty="0">
                <a:solidFill>
                  <a:schemeClr val="bg1"/>
                </a:solidFill>
              </a:rPr>
              <a:t>("HTTP/1.1 200 OK\r\n")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</a:t>
            </a:r>
            <a:r>
              <a:rPr lang="de-AT" dirty="0" err="1">
                <a:solidFill>
                  <a:schemeClr val="bg1"/>
                </a:solidFill>
              </a:rPr>
              <a:t>writer.write</a:t>
            </a:r>
            <a:r>
              <a:rPr lang="de-AT" dirty="0">
                <a:solidFill>
                  <a:schemeClr val="bg1"/>
                </a:solidFill>
              </a:rPr>
              <a:t>("Content-Type: </a:t>
            </a:r>
            <a:r>
              <a:rPr lang="de-AT" dirty="0" err="1">
                <a:solidFill>
                  <a:schemeClr val="bg1"/>
                </a:solidFill>
              </a:rPr>
              <a:t>text</a:t>
            </a:r>
            <a:r>
              <a:rPr lang="de-AT" dirty="0">
                <a:solidFill>
                  <a:schemeClr val="bg1"/>
                </a:solidFill>
              </a:rPr>
              <a:t>/</a:t>
            </a:r>
            <a:r>
              <a:rPr lang="de-AT" dirty="0" err="1">
                <a:solidFill>
                  <a:schemeClr val="bg1"/>
                </a:solidFill>
              </a:rPr>
              <a:t>csv</a:t>
            </a:r>
            <a:r>
              <a:rPr lang="de-AT" dirty="0">
                <a:solidFill>
                  <a:schemeClr val="bg1"/>
                </a:solidFill>
              </a:rPr>
              <a:t>\r\n")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</a:t>
            </a:r>
            <a:r>
              <a:rPr lang="de-AT" dirty="0" err="1">
                <a:solidFill>
                  <a:schemeClr val="bg1"/>
                </a:solidFill>
              </a:rPr>
              <a:t>writer.write</a:t>
            </a:r>
            <a:r>
              <a:rPr lang="de-AT" dirty="0">
                <a:solidFill>
                  <a:schemeClr val="bg1"/>
                </a:solidFill>
              </a:rPr>
              <a:t>(</a:t>
            </a:r>
            <a:r>
              <a:rPr lang="de-AT" dirty="0" err="1">
                <a:solidFill>
                  <a:schemeClr val="bg1"/>
                </a:solidFill>
              </a:rPr>
              <a:t>f"Content</a:t>
            </a:r>
            <a:r>
              <a:rPr lang="de-AT" dirty="0">
                <a:solidFill>
                  <a:schemeClr val="bg1"/>
                </a:solidFill>
              </a:rPr>
              <a:t>-Disposition: </a:t>
            </a:r>
            <a:r>
              <a:rPr lang="de-AT" dirty="0" err="1">
                <a:solidFill>
                  <a:schemeClr val="bg1"/>
                </a:solidFill>
              </a:rPr>
              <a:t>attachment</a:t>
            </a:r>
            <a:r>
              <a:rPr lang="de-AT" dirty="0">
                <a:solidFill>
                  <a:schemeClr val="bg1"/>
                </a:solidFill>
              </a:rPr>
              <a:t>; </a:t>
            </a:r>
            <a:r>
              <a:rPr lang="de-AT" dirty="0" err="1">
                <a:solidFill>
                  <a:schemeClr val="bg1"/>
                </a:solidFill>
              </a:rPr>
              <a:t>filename</a:t>
            </a:r>
            <a:r>
              <a:rPr lang="de-AT" dirty="0">
                <a:solidFill>
                  <a:schemeClr val="bg1"/>
                </a:solidFill>
              </a:rPr>
              <a:t>={</a:t>
            </a:r>
            <a:r>
              <a:rPr lang="de-AT" dirty="0" err="1">
                <a:solidFill>
                  <a:schemeClr val="bg1"/>
                </a:solidFill>
              </a:rPr>
              <a:t>filename</a:t>
            </a:r>
            <a:r>
              <a:rPr lang="de-AT" dirty="0">
                <a:solidFill>
                  <a:schemeClr val="bg1"/>
                </a:solidFill>
              </a:rPr>
              <a:t>}\r\n\r\n")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# Datei stückweise einlesen und senden (schont den RAM)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</a:t>
            </a:r>
            <a:r>
              <a:rPr lang="de-AT" dirty="0" err="1">
                <a:solidFill>
                  <a:schemeClr val="bg1"/>
                </a:solidFill>
              </a:rPr>
              <a:t>with</a:t>
            </a:r>
            <a:r>
              <a:rPr lang="de-AT" dirty="0">
                <a:solidFill>
                  <a:schemeClr val="bg1"/>
                </a:solidFill>
              </a:rPr>
              <a:t> open(</a:t>
            </a:r>
            <a:r>
              <a:rPr lang="de-AT" dirty="0" err="1">
                <a:solidFill>
                  <a:schemeClr val="bg1"/>
                </a:solidFill>
              </a:rPr>
              <a:t>filename</a:t>
            </a:r>
            <a:r>
              <a:rPr lang="de-AT" dirty="0">
                <a:solidFill>
                  <a:schemeClr val="bg1"/>
                </a:solidFill>
              </a:rPr>
              <a:t>, "</a:t>
            </a:r>
            <a:r>
              <a:rPr lang="de-AT" dirty="0" err="1">
                <a:solidFill>
                  <a:schemeClr val="bg1"/>
                </a:solidFill>
              </a:rPr>
              <a:t>rb</a:t>
            </a:r>
            <a:r>
              <a:rPr lang="de-AT" dirty="0">
                <a:solidFill>
                  <a:schemeClr val="bg1"/>
                </a:solidFill>
              </a:rPr>
              <a:t>") </a:t>
            </a:r>
            <a:r>
              <a:rPr lang="de-AT" dirty="0" err="1">
                <a:solidFill>
                  <a:schemeClr val="bg1"/>
                </a:solidFill>
              </a:rPr>
              <a:t>as</a:t>
            </a:r>
            <a:r>
              <a:rPr lang="de-AT" dirty="0">
                <a:solidFill>
                  <a:schemeClr val="bg1"/>
                </a:solidFill>
              </a:rPr>
              <a:t> f: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    </a:t>
            </a:r>
            <a:r>
              <a:rPr lang="de-AT" dirty="0" err="1">
                <a:solidFill>
                  <a:schemeClr val="bg1"/>
                </a:solidFill>
              </a:rPr>
              <a:t>while</a:t>
            </a:r>
            <a:r>
              <a:rPr lang="de-AT" dirty="0">
                <a:solidFill>
                  <a:schemeClr val="bg1"/>
                </a:solidFill>
              </a:rPr>
              <a:t> True: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        </a:t>
            </a:r>
            <a:r>
              <a:rPr lang="de-AT" dirty="0" err="1">
                <a:solidFill>
                  <a:schemeClr val="bg1"/>
                </a:solidFill>
              </a:rPr>
              <a:t>chunk</a:t>
            </a:r>
            <a:r>
              <a:rPr lang="de-AT" dirty="0">
                <a:solidFill>
                  <a:schemeClr val="bg1"/>
                </a:solidFill>
              </a:rPr>
              <a:t> = </a:t>
            </a:r>
            <a:r>
              <a:rPr lang="de-AT" dirty="0" err="1">
                <a:solidFill>
                  <a:schemeClr val="bg1"/>
                </a:solidFill>
              </a:rPr>
              <a:t>f.read</a:t>
            </a:r>
            <a:r>
              <a:rPr lang="de-AT" dirty="0">
                <a:solidFill>
                  <a:schemeClr val="bg1"/>
                </a:solidFill>
              </a:rPr>
              <a:t>(256)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        </a:t>
            </a:r>
            <a:r>
              <a:rPr lang="de-AT" dirty="0" err="1">
                <a:solidFill>
                  <a:schemeClr val="bg1"/>
                </a:solidFill>
              </a:rPr>
              <a:t>if</a:t>
            </a:r>
            <a:r>
              <a:rPr lang="de-AT" dirty="0">
                <a:solidFill>
                  <a:schemeClr val="bg1"/>
                </a:solidFill>
              </a:rPr>
              <a:t> not </a:t>
            </a:r>
            <a:r>
              <a:rPr lang="de-AT" dirty="0" err="1">
                <a:solidFill>
                  <a:schemeClr val="bg1"/>
                </a:solidFill>
              </a:rPr>
              <a:t>chunk</a:t>
            </a:r>
            <a:r>
              <a:rPr lang="de-AT" dirty="0">
                <a:solidFill>
                  <a:schemeClr val="bg1"/>
                </a:solidFill>
              </a:rPr>
              <a:t>: break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        </a:t>
            </a:r>
            <a:r>
              <a:rPr lang="de-AT" dirty="0" err="1">
                <a:solidFill>
                  <a:schemeClr val="bg1"/>
                </a:solidFill>
              </a:rPr>
              <a:t>writer.write</a:t>
            </a:r>
            <a:r>
              <a:rPr lang="de-AT" dirty="0">
                <a:solidFill>
                  <a:schemeClr val="bg1"/>
                </a:solidFill>
              </a:rPr>
              <a:t>(</a:t>
            </a:r>
            <a:r>
              <a:rPr lang="de-AT" dirty="0" err="1">
                <a:solidFill>
                  <a:schemeClr val="bg1"/>
                </a:solidFill>
              </a:rPr>
              <a:t>chunk</a:t>
            </a:r>
            <a:r>
              <a:rPr lang="de-AT" dirty="0">
                <a:solidFill>
                  <a:schemeClr val="bg1"/>
                </a:solidFill>
              </a:rPr>
              <a:t>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        </a:t>
            </a:r>
            <a:r>
              <a:rPr lang="de-AT" dirty="0" err="1">
                <a:solidFill>
                  <a:schemeClr val="bg1"/>
                </a:solidFill>
              </a:rPr>
              <a:t>await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writer.drain</a:t>
            </a:r>
            <a:r>
              <a:rPr lang="de-AT" dirty="0">
                <a:solidFill>
                  <a:schemeClr val="bg1"/>
                </a:solidFill>
              </a:rPr>
              <a:t>()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except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    </a:t>
            </a:r>
            <a:r>
              <a:rPr lang="de-AT" dirty="0" err="1">
                <a:solidFill>
                  <a:schemeClr val="bg1"/>
                </a:solidFill>
              </a:rPr>
              <a:t>writer.write</a:t>
            </a:r>
            <a:r>
              <a:rPr lang="de-AT" dirty="0">
                <a:solidFill>
                  <a:schemeClr val="bg1"/>
                </a:solidFill>
              </a:rPr>
              <a:t>("HTTP/1.1 404 Not </a:t>
            </a:r>
            <a:r>
              <a:rPr lang="de-AT" dirty="0" err="1">
                <a:solidFill>
                  <a:schemeClr val="bg1"/>
                </a:solidFill>
              </a:rPr>
              <a:t>Found</a:t>
            </a:r>
            <a:r>
              <a:rPr lang="de-AT" dirty="0">
                <a:solidFill>
                  <a:schemeClr val="bg1"/>
                </a:solidFill>
              </a:rPr>
              <a:t>\r\n\r\</a:t>
            </a:r>
            <a:r>
              <a:rPr lang="de-AT" dirty="0" err="1">
                <a:solidFill>
                  <a:schemeClr val="bg1"/>
                </a:solidFill>
              </a:rPr>
              <a:t>nDatei</a:t>
            </a:r>
            <a:r>
              <a:rPr lang="de-AT" dirty="0">
                <a:solidFill>
                  <a:schemeClr val="bg1"/>
                </a:solidFill>
              </a:rPr>
              <a:t> nicht gefunden.")</a:t>
            </a:r>
          </a:p>
          <a:p>
            <a:endParaRPr lang="de-AT" dirty="0">
              <a:solidFill>
                <a:schemeClr val="bg1"/>
              </a:solidFill>
            </a:endParaRPr>
          </a:p>
          <a:p>
            <a:endParaRPr lang="de-AT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A463FFF-794C-2659-5B22-294AD0D923B7}"/>
              </a:ext>
            </a:extLst>
          </p:cNvPr>
          <p:cNvSpPr txBox="1"/>
          <p:nvPr/>
        </p:nvSpPr>
        <p:spPr>
          <a:xfrm>
            <a:off x="3393368" y="131238"/>
            <a:ext cx="75888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AT" dirty="0">
              <a:solidFill>
                <a:schemeClr val="bg1"/>
              </a:solidFill>
            </a:endParaRPr>
          </a:p>
          <a:p>
            <a:r>
              <a:rPr lang="de-AT" dirty="0">
                <a:solidFill>
                  <a:schemeClr val="bg1"/>
                </a:solidFill>
              </a:rPr>
              <a:t>        # --- FALL 3: STARTSEITE ---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else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html</a:t>
            </a:r>
            <a:r>
              <a:rPr lang="de-AT" dirty="0">
                <a:solidFill>
                  <a:schemeClr val="bg1"/>
                </a:solidFill>
              </a:rPr>
              <a:t> = f"&lt;h1&gt;Status&lt;/h1&gt;&lt;p&gt;Max G: {</a:t>
            </a:r>
            <a:r>
              <a:rPr lang="de-AT" dirty="0" err="1">
                <a:solidFill>
                  <a:schemeClr val="bg1"/>
                </a:solidFill>
              </a:rPr>
              <a:t>max_g</a:t>
            </a:r>
            <a:r>
              <a:rPr lang="de-AT" dirty="0">
                <a:solidFill>
                  <a:schemeClr val="bg1"/>
                </a:solidFill>
              </a:rPr>
              <a:t>}&lt;/p&gt;"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html</a:t>
            </a:r>
            <a:r>
              <a:rPr lang="de-AT" dirty="0">
                <a:solidFill>
                  <a:schemeClr val="bg1"/>
                </a:solidFill>
              </a:rPr>
              <a:t> += '&lt;a </a:t>
            </a:r>
            <a:r>
              <a:rPr lang="de-AT" dirty="0" err="1">
                <a:solidFill>
                  <a:schemeClr val="bg1"/>
                </a:solidFill>
              </a:rPr>
              <a:t>href</a:t>
            </a:r>
            <a:r>
              <a:rPr lang="de-AT" dirty="0">
                <a:solidFill>
                  <a:schemeClr val="bg1"/>
                </a:solidFill>
              </a:rPr>
              <a:t>="/</a:t>
            </a:r>
            <a:r>
              <a:rPr lang="de-AT" dirty="0" err="1">
                <a:solidFill>
                  <a:schemeClr val="bg1"/>
                </a:solidFill>
              </a:rPr>
              <a:t>reset</a:t>
            </a:r>
            <a:r>
              <a:rPr lang="de-AT" dirty="0">
                <a:solidFill>
                  <a:schemeClr val="bg1"/>
                </a:solidFill>
              </a:rPr>
              <a:t>"&gt;RESET&lt;/a&gt;&lt;</a:t>
            </a:r>
            <a:r>
              <a:rPr lang="de-AT" dirty="0" err="1">
                <a:solidFill>
                  <a:schemeClr val="bg1"/>
                </a:solidFill>
              </a:rPr>
              <a:t>br</a:t>
            </a:r>
            <a:r>
              <a:rPr lang="de-AT" dirty="0">
                <a:solidFill>
                  <a:schemeClr val="bg1"/>
                </a:solidFill>
              </a:rPr>
              <a:t>&gt;&lt;a </a:t>
            </a:r>
            <a:r>
              <a:rPr lang="de-AT" dirty="0" err="1">
                <a:solidFill>
                  <a:schemeClr val="bg1"/>
                </a:solidFill>
              </a:rPr>
              <a:t>href</a:t>
            </a:r>
            <a:r>
              <a:rPr lang="de-AT" dirty="0">
                <a:solidFill>
                  <a:schemeClr val="bg1"/>
                </a:solidFill>
              </a:rPr>
              <a:t>="/</a:t>
            </a:r>
            <a:r>
              <a:rPr lang="de-AT" dirty="0" err="1">
                <a:solidFill>
                  <a:schemeClr val="bg1"/>
                </a:solidFill>
              </a:rPr>
              <a:t>download</a:t>
            </a:r>
            <a:r>
              <a:rPr lang="de-AT" dirty="0">
                <a:solidFill>
                  <a:schemeClr val="bg1"/>
                </a:solidFill>
              </a:rPr>
              <a:t>"&gt;DOWNLOAD CSV&lt;/a&gt;'</a:t>
            </a:r>
          </a:p>
          <a:p>
            <a:r>
              <a:rPr lang="de-AT" dirty="0">
                <a:solidFill>
                  <a:schemeClr val="bg1"/>
                </a:solidFill>
              </a:rPr>
              <a:t>            </a:t>
            </a:r>
            <a:r>
              <a:rPr lang="de-AT" dirty="0" err="1">
                <a:solidFill>
                  <a:schemeClr val="bg1"/>
                </a:solidFill>
              </a:rPr>
              <a:t>writer.write</a:t>
            </a:r>
            <a:r>
              <a:rPr lang="de-AT" dirty="0">
                <a:solidFill>
                  <a:schemeClr val="bg1"/>
                </a:solidFill>
              </a:rPr>
              <a:t>("HTTP/1.1 200 OK\r\</a:t>
            </a:r>
            <a:r>
              <a:rPr lang="de-AT" dirty="0" err="1">
                <a:solidFill>
                  <a:schemeClr val="bg1"/>
                </a:solidFill>
              </a:rPr>
              <a:t>nContent</a:t>
            </a:r>
            <a:r>
              <a:rPr lang="de-AT" dirty="0">
                <a:solidFill>
                  <a:schemeClr val="bg1"/>
                </a:solidFill>
              </a:rPr>
              <a:t>-Type: </a:t>
            </a:r>
            <a:r>
              <a:rPr lang="de-AT" dirty="0" err="1">
                <a:solidFill>
                  <a:schemeClr val="bg1"/>
                </a:solidFill>
              </a:rPr>
              <a:t>text</a:t>
            </a:r>
            <a:r>
              <a:rPr lang="de-AT" dirty="0">
                <a:solidFill>
                  <a:schemeClr val="bg1"/>
                </a:solidFill>
              </a:rPr>
              <a:t>/</a:t>
            </a:r>
            <a:r>
              <a:rPr lang="de-AT" dirty="0" err="1">
                <a:solidFill>
                  <a:schemeClr val="bg1"/>
                </a:solidFill>
              </a:rPr>
              <a:t>html</a:t>
            </a:r>
            <a:r>
              <a:rPr lang="de-AT" dirty="0">
                <a:solidFill>
                  <a:schemeClr val="bg1"/>
                </a:solidFill>
              </a:rPr>
              <a:t>\r\n\r\n" + </a:t>
            </a:r>
            <a:r>
              <a:rPr lang="de-AT" dirty="0" err="1">
                <a:solidFill>
                  <a:schemeClr val="bg1"/>
                </a:solidFill>
              </a:rPr>
              <a:t>html</a:t>
            </a:r>
            <a:r>
              <a:rPr lang="de-AT" dirty="0">
                <a:solidFill>
                  <a:schemeClr val="bg1"/>
                </a:solidFill>
              </a:rPr>
              <a:t>)</a:t>
            </a:r>
          </a:p>
          <a:p>
            <a:endParaRPr lang="de-AT" dirty="0">
              <a:solidFill>
                <a:schemeClr val="bg1"/>
              </a:solidFill>
            </a:endParaRP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await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writer.drain</a:t>
            </a:r>
            <a:r>
              <a:rPr lang="de-AT" dirty="0">
                <a:solidFill>
                  <a:schemeClr val="bg1"/>
                </a:solidFill>
              </a:rPr>
              <a:t>()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writer.close</a:t>
            </a:r>
            <a:r>
              <a:rPr lang="de-AT" dirty="0">
                <a:solidFill>
                  <a:schemeClr val="bg1"/>
                </a:solidFill>
              </a:rPr>
              <a:t>()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await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writer.wait_closed</a:t>
            </a:r>
            <a:r>
              <a:rPr lang="de-AT" dirty="0">
                <a:solidFill>
                  <a:schemeClr val="bg1"/>
                </a:solidFill>
              </a:rPr>
              <a:t>()</a:t>
            </a:r>
          </a:p>
          <a:p>
            <a:r>
              <a:rPr lang="de-AT" dirty="0">
                <a:solidFill>
                  <a:schemeClr val="bg1"/>
                </a:solidFill>
              </a:rPr>
              <a:t>    </a:t>
            </a:r>
            <a:r>
              <a:rPr lang="de-AT" dirty="0" err="1">
                <a:solidFill>
                  <a:schemeClr val="bg1"/>
                </a:solidFill>
              </a:rPr>
              <a:t>except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Exception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as</a:t>
            </a:r>
            <a:r>
              <a:rPr lang="de-AT" dirty="0">
                <a:solidFill>
                  <a:schemeClr val="bg1"/>
                </a:solidFill>
              </a:rPr>
              <a:t> e: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print</a:t>
            </a:r>
            <a:r>
              <a:rPr lang="de-AT" dirty="0">
                <a:solidFill>
                  <a:schemeClr val="bg1"/>
                </a:solidFill>
              </a:rPr>
              <a:t>("Fehler:", e)</a:t>
            </a:r>
          </a:p>
          <a:p>
            <a:endParaRPr lang="de-AT" dirty="0">
              <a:solidFill>
                <a:schemeClr val="bg1"/>
              </a:solidFill>
            </a:endParaRPr>
          </a:p>
          <a:p>
            <a:r>
              <a:rPr lang="de-AT" dirty="0" err="1">
                <a:solidFill>
                  <a:schemeClr val="bg1"/>
                </a:solidFill>
              </a:rPr>
              <a:t>async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def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main</a:t>
            </a:r>
            <a:r>
              <a:rPr lang="de-AT" dirty="0">
                <a:solidFill>
                  <a:schemeClr val="bg1"/>
                </a:solidFill>
              </a:rPr>
              <a:t>():</a:t>
            </a:r>
          </a:p>
          <a:p>
            <a:r>
              <a:rPr lang="de-AT" dirty="0">
                <a:solidFill>
                  <a:schemeClr val="bg1"/>
                </a:solidFill>
              </a:rPr>
              <a:t>    # Server auf Port 80 starten</a:t>
            </a:r>
          </a:p>
          <a:p>
            <a:r>
              <a:rPr lang="de-AT" dirty="0">
                <a:solidFill>
                  <a:schemeClr val="bg1"/>
                </a:solidFill>
              </a:rPr>
              <a:t>    </a:t>
            </a:r>
            <a:r>
              <a:rPr lang="de-AT" dirty="0" err="1">
                <a:solidFill>
                  <a:schemeClr val="bg1"/>
                </a:solidFill>
              </a:rPr>
              <a:t>server</a:t>
            </a:r>
            <a:r>
              <a:rPr lang="de-AT" dirty="0">
                <a:solidFill>
                  <a:schemeClr val="bg1"/>
                </a:solidFill>
              </a:rPr>
              <a:t> = </a:t>
            </a:r>
            <a:r>
              <a:rPr lang="de-AT" dirty="0" err="1">
                <a:solidFill>
                  <a:schemeClr val="bg1"/>
                </a:solidFill>
              </a:rPr>
              <a:t>await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asyncio.start_server</a:t>
            </a:r>
            <a:r>
              <a:rPr lang="de-AT" dirty="0">
                <a:solidFill>
                  <a:schemeClr val="bg1"/>
                </a:solidFill>
              </a:rPr>
              <a:t>(</a:t>
            </a:r>
            <a:r>
              <a:rPr lang="de-AT" dirty="0" err="1">
                <a:solidFill>
                  <a:schemeClr val="bg1"/>
                </a:solidFill>
              </a:rPr>
              <a:t>handle_client</a:t>
            </a:r>
            <a:r>
              <a:rPr lang="de-AT" dirty="0">
                <a:solidFill>
                  <a:schemeClr val="bg1"/>
                </a:solidFill>
              </a:rPr>
              <a:t>, "0.0.0.0", 80)</a:t>
            </a:r>
          </a:p>
          <a:p>
            <a:r>
              <a:rPr lang="de-AT" dirty="0">
                <a:solidFill>
                  <a:schemeClr val="bg1"/>
                </a:solidFill>
              </a:rPr>
              <a:t>    </a:t>
            </a:r>
            <a:r>
              <a:rPr lang="de-AT" dirty="0" err="1">
                <a:solidFill>
                  <a:schemeClr val="bg1"/>
                </a:solidFill>
              </a:rPr>
              <a:t>print</a:t>
            </a:r>
            <a:r>
              <a:rPr lang="de-AT" dirty="0">
                <a:solidFill>
                  <a:schemeClr val="bg1"/>
                </a:solidFill>
              </a:rPr>
              <a:t>("Server läuft...")</a:t>
            </a:r>
          </a:p>
          <a:p>
            <a:r>
              <a:rPr lang="de-AT" dirty="0">
                <a:solidFill>
                  <a:schemeClr val="bg1"/>
                </a:solidFill>
              </a:rPr>
              <a:t>    </a:t>
            </a:r>
            <a:r>
              <a:rPr lang="de-AT" dirty="0" err="1">
                <a:solidFill>
                  <a:schemeClr val="bg1"/>
                </a:solidFill>
              </a:rPr>
              <a:t>while</a:t>
            </a:r>
            <a:r>
              <a:rPr lang="de-AT" dirty="0">
                <a:solidFill>
                  <a:schemeClr val="bg1"/>
                </a:solidFill>
              </a:rPr>
              <a:t> True:</a:t>
            </a:r>
          </a:p>
          <a:p>
            <a:r>
              <a:rPr lang="de-AT" dirty="0">
                <a:solidFill>
                  <a:schemeClr val="bg1"/>
                </a:solidFill>
              </a:rPr>
              <a:t>        </a:t>
            </a:r>
            <a:r>
              <a:rPr lang="de-AT" dirty="0" err="1">
                <a:solidFill>
                  <a:schemeClr val="bg1"/>
                </a:solidFill>
              </a:rPr>
              <a:t>await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asyncio.sleep</a:t>
            </a:r>
            <a:r>
              <a:rPr lang="de-AT" dirty="0">
                <a:solidFill>
                  <a:schemeClr val="bg1"/>
                </a:solidFill>
              </a:rPr>
              <a:t>(1)</a:t>
            </a:r>
          </a:p>
          <a:p>
            <a:endParaRPr lang="de-AT" dirty="0">
              <a:solidFill>
                <a:schemeClr val="bg1"/>
              </a:solidFill>
            </a:endParaRPr>
          </a:p>
          <a:p>
            <a:r>
              <a:rPr lang="de-AT" dirty="0">
                <a:solidFill>
                  <a:schemeClr val="bg1"/>
                </a:solidFill>
              </a:rPr>
              <a:t># Start</a:t>
            </a:r>
          </a:p>
          <a:p>
            <a:r>
              <a:rPr lang="de-AT" dirty="0" err="1">
                <a:solidFill>
                  <a:schemeClr val="bg1"/>
                </a:solidFill>
              </a:rPr>
              <a:t>try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</a:t>
            </a:r>
            <a:r>
              <a:rPr lang="de-AT" dirty="0" err="1">
                <a:solidFill>
                  <a:schemeClr val="bg1"/>
                </a:solidFill>
              </a:rPr>
              <a:t>asyncio.run</a:t>
            </a:r>
            <a:r>
              <a:rPr lang="de-AT" dirty="0">
                <a:solidFill>
                  <a:schemeClr val="bg1"/>
                </a:solidFill>
              </a:rPr>
              <a:t>(</a:t>
            </a:r>
            <a:r>
              <a:rPr lang="de-AT" dirty="0" err="1">
                <a:solidFill>
                  <a:schemeClr val="bg1"/>
                </a:solidFill>
              </a:rPr>
              <a:t>main</a:t>
            </a:r>
            <a:r>
              <a:rPr lang="de-AT" dirty="0">
                <a:solidFill>
                  <a:schemeClr val="bg1"/>
                </a:solidFill>
              </a:rPr>
              <a:t>())</a:t>
            </a:r>
          </a:p>
          <a:p>
            <a:r>
              <a:rPr lang="de-AT" dirty="0" err="1">
                <a:solidFill>
                  <a:schemeClr val="bg1"/>
                </a:solidFill>
              </a:rPr>
              <a:t>except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KeyboardInterrupt</a:t>
            </a:r>
            <a:r>
              <a:rPr lang="de-AT" dirty="0">
                <a:solidFill>
                  <a:schemeClr val="bg1"/>
                </a:solidFill>
              </a:rPr>
              <a:t>:</a:t>
            </a:r>
          </a:p>
          <a:p>
            <a:r>
              <a:rPr lang="de-AT" dirty="0">
                <a:solidFill>
                  <a:schemeClr val="bg1"/>
                </a:solidFill>
              </a:rPr>
              <a:t>    pass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4752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/>
      <p:bldP spid="11" grpId="1"/>
      <p:bldP spid="17" grpId="0"/>
      <p:bldP spid="17" grpId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65352"/>
            <a:ext cx="1491139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929878" y="1933337"/>
            <a:ext cx="12189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ERWEITERUNG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82322"/>
            <a:ext cx="91950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Vom Webserver zum Präzisions-Messgerät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2894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aus dem Pico W ein vollwertiges Telemetriesystem zu machen, erweitern wir die Hardware um spezielle Module: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907512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907512"/>
            <a:ext cx="121920" cy="24566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2524" y="4164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MPU6050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2524" y="465522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6-Achsen-Bewegungssensor für Beschleunigungs- und Drehratenmessung.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3907512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907512"/>
            <a:ext cx="121920" cy="24566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65696" y="4164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SD-Kartenmodul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565696" y="465522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Zur lokalen Speicherung großer Datenmengen über die SPI-Schnittstelle.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907512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907512"/>
            <a:ext cx="121920" cy="24566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88868" y="4164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12V-5V Konverter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988868" y="4655225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Regulierung der Motorrad-Bordspannung für eine stabile Stromversorgung des Pico W und der Peripherie.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450" y="581739"/>
            <a:ext cx="1044535" cy="388620"/>
          </a:xfrm>
          <a:prstGeom prst="roundRect">
            <a:avLst>
              <a:gd name="adj" fmla="val 653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867370" y="645200"/>
            <a:ext cx="790694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SENSORIK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0450" y="1049179"/>
            <a:ext cx="7149584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Der MPU6050: Unser 6-Achsen-IMU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40450" y="1874044"/>
            <a:ext cx="1314950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MPU6050 ist ein integriertes Inertial Measurement Unit (IMU), das essenzielle Bewegungsdaten liefert: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0450" y="2786420"/>
            <a:ext cx="4266843" cy="4062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3-Achsen-Beschleunigungsmesser: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Misst statische und dynamische Beschleunigungen entlang der X-, Y- und Z-Achse.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3-Achsen-Gyroskop: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Erfasst die Drehraten (Winkelgeschwindigkeit) um die X-, Y- und Z-Achse.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I2C-Kommunikation: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Die Datenübertragung zum Pico W erfolgt über das effiziente I2C-Protokoll, das sich durch seine Einfachheit und Robustheit auszeichnet.</a:t>
            </a: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929" y="2644973"/>
            <a:ext cx="8366522" cy="42373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5184" y="4579473"/>
            <a:ext cx="1347125" cy="54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MPU6050 Sensor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155184" y="5202155"/>
            <a:ext cx="1347125" cy="42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6-Achsen IMU liefert Rohdaten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96141" y="4792687"/>
            <a:ext cx="1347126" cy="54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I2C-Verbindung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96141" y="5415369"/>
            <a:ext cx="1347126" cy="42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SDA/SCL Busübertragung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208023" y="5054358"/>
            <a:ext cx="1347126" cy="54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Mikrocontroller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208023" y="5677041"/>
            <a:ext cx="1347126" cy="4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Empfang und Vorverarbeitung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632681" y="5325722"/>
            <a:ext cx="1434350" cy="54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Datentransfer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632681" y="5948404"/>
            <a:ext cx="1347125" cy="6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Seriell an Verarbeitungseinheit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067031" y="5587394"/>
            <a:ext cx="1347126" cy="54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Verarbeitungseinheit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2067031" y="6210076"/>
            <a:ext cx="1347126" cy="4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und Steuerlogik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0450" y="7326154"/>
            <a:ext cx="1314950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Diese Sensoren ermöglichen es uns, die Lage und Bewegung des Motorrads präzise zu verfolgen.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14343"/>
            <a:ext cx="2443163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929878" y="1482328"/>
            <a:ext cx="21709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SOFTWARE-ARCHITEKTUR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31313"/>
            <a:ext cx="965573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Hauptfunktionen des Telemetrie-Programms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8384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Software wurde für eine effiziente und reaktionsschnelle Datenverarbeitung konzipiert: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565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11548"/>
            <a:ext cx="4196358" cy="3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3985855"/>
            <a:ext cx="24431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WLAN AP-Mode Initialisierung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4830604"/>
            <a:ext cx="230707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Pico W startet als Access Point, um eine direkte Verbindung zu Endgeräten zu ermöglichen.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182422" y="34565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811548"/>
            <a:ext cx="4196358" cy="3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82422" y="3985855"/>
            <a:ext cx="298977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Parallele Verarbeitung mit uasyncio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182422" y="4830604"/>
            <a:ext cx="298977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Erlaubt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beides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Cores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vom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Raspberry Pi Pico W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verwendet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werden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272093" y="34565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834289"/>
            <a:ext cx="4196358" cy="3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72093" y="3985855"/>
            <a:ext cx="314122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Rohdaten-Verarbeitung zu Winkeldaten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272093" y="4830604"/>
            <a:ext cx="314122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vom MPU6050 gelieferten Rohwerte werden in aussagekräftige Winkel und Lagedaten umgewandelt.</a:t>
            </a:r>
            <a:endParaRPr lang="en-US" sz="175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1F88A38-B782-0A84-251D-4BACE63C78F4}"/>
              </a:ext>
            </a:extLst>
          </p:cNvPr>
          <p:cNvSpPr/>
          <p:nvPr/>
        </p:nvSpPr>
        <p:spPr>
          <a:xfrm>
            <a:off x="9578278" y="34565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75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2B7B42DF-6C60-718B-2868-51BD12D55443}"/>
              </a:ext>
            </a:extLst>
          </p:cNvPr>
          <p:cNvSpPr/>
          <p:nvPr/>
        </p:nvSpPr>
        <p:spPr>
          <a:xfrm>
            <a:off x="9578278" y="3985855"/>
            <a:ext cx="314122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Arbeit auf 2 Cores </a:t>
            </a:r>
            <a:r>
              <a:rPr lang="en-US" sz="22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aufteilen</a:t>
            </a:r>
            <a:endParaRPr lang="en-US" sz="22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ADF5EEA2-EC29-37B9-C8C9-CC12578FD365}"/>
              </a:ext>
            </a:extLst>
          </p:cNvPr>
          <p:cNvSpPr/>
          <p:nvPr/>
        </p:nvSpPr>
        <p:spPr>
          <a:xfrm>
            <a:off x="9578278" y="4830604"/>
            <a:ext cx="3141227" cy="77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de-DE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Multithreading ermöglicht es dem Pico W, mit einem Kern zu messen, während der andere Kern gleichzeitig die Webseite verwaltet.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33356"/>
            <a:ext cx="1753195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929878" y="1201341"/>
            <a:ext cx="14810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50325"/>
            <a:ext cx="922520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HTTP Polling vs. WebSocket für Telemetrie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5574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Wahl des richtigen Kommunikationsprotokolls ist entscheidend für Echtzeit-Telemetrie.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02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HTTP Polling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983474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fragt Server periodisch nach neuen Daten.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Hohe Latenz bei häufigen Anfragen.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Erhöhter Overhead durch wiederholtes Initiieren von Verbindungen.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402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WebSocket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983474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Persistente Verbindung ermöglicht bidirektionale Kommunikation.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Geringe Latenz: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Daten werden sofort nach Verfügbarkeit gesendet (Push-Prinzip).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Effizienter: Weniger Overhead als bei Polling.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für Echtzeit-Anwendungen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wie Telemetrie.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7332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WebSockets bieten klare Vorteile für eine reaktionsschnelle Datenvisualisierung.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51955"/>
            <a:ext cx="1517452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929878" y="1419939"/>
            <a:ext cx="12452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68924"/>
            <a:ext cx="87414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Mathematik &amp; Kalibrierung für Präzision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7760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genaue Schräglagenwinkel zu erhalten, sind fundierte mathematische Berechnungen und eine sorgfältige Kalibrierung unerlässlich: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757017"/>
            <a:ext cx="13042821" cy="3120509"/>
          </a:xfrm>
          <a:prstGeom prst="roundRect">
            <a:avLst>
              <a:gd name="adj" fmla="val 109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793790" y="3757017"/>
            <a:ext cx="4347567" cy="3120509"/>
          </a:xfrm>
          <a:prstGeom prst="roundRect">
            <a:avLst>
              <a:gd name="adj" fmla="val 109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020604" y="3983831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Winkelberechnung mit atan2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0604" y="4828580"/>
            <a:ext cx="3893939" cy="1822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Funktion </a:t>
            </a:r>
            <a:r>
              <a:rPr lang="en-US" sz="17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atan2(y, x)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ermöglicht die präzise Berechnung des Winkels zwischen den Beschleunigungswerten, unter Berücksichtigung aller Quadranten.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141357" y="3757017"/>
            <a:ext cx="4347567" cy="3120509"/>
          </a:xfrm>
          <a:prstGeom prst="rect">
            <a:avLst/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Shape 9"/>
          <p:cNvSpPr/>
          <p:nvPr/>
        </p:nvSpPr>
        <p:spPr>
          <a:xfrm>
            <a:off x="5141357" y="3757017"/>
            <a:ext cx="30480" cy="3120509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368171" y="3983831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Achsen-Entkopplung mit Pythagoras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68171" y="4828580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Satz des Pythagoras wird verwendet, um die tatsächliche Neigung über mehrere Achsen hinweg zu bestimmen und statische Schräglagen zu separieren.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488924" y="3757017"/>
            <a:ext cx="4347567" cy="3120509"/>
          </a:xfrm>
          <a:prstGeom prst="rect">
            <a:avLst/>
          </a:prstGeom>
          <a:solidFill>
            <a:srgbClr val="3F465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9488924" y="3757017"/>
            <a:ext cx="30480" cy="3120509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9715738" y="3983831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Einmalige Software-Kalibrierung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15738" y="4828580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spezieller Kalibrierungsvorgang gleicht Einbauungenauigkeiten des Sensors aus, um eine absolute Nullstellung und somit präzise Messwerte zu gewährleisten.</a:t>
            </a:r>
            <a:endParaRPr lang="en-US" sz="1750" dirty="0"/>
          </a:p>
        </p:txBody>
      </p:sp>
      <p:pic>
        <p:nvPicPr>
          <p:cNvPr id="19" name="Grafik 1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B838552-3FB2-E87D-D690-3ABD754C7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15" y="2152412"/>
            <a:ext cx="11421325" cy="3717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88D454-448C-8685-E273-988FE979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50262E-38A6-95B3-F9C3-4822072CD06C}"/>
              </a:ext>
            </a:extLst>
          </p:cNvPr>
          <p:cNvSpPr/>
          <p:nvPr/>
        </p:nvSpPr>
        <p:spPr>
          <a:xfrm>
            <a:off x="793790" y="1351955"/>
            <a:ext cx="1517452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769966-389B-77AB-40DF-A8C25B2A28FD}"/>
              </a:ext>
            </a:extLst>
          </p:cNvPr>
          <p:cNvSpPr/>
          <p:nvPr/>
        </p:nvSpPr>
        <p:spPr>
          <a:xfrm>
            <a:off x="929878" y="1419939"/>
            <a:ext cx="12452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ALGORITHMEN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6BB2FB-C35A-B466-1EA3-2383D5BA639A}"/>
              </a:ext>
            </a:extLst>
          </p:cNvPr>
          <p:cNvSpPr/>
          <p:nvPr/>
        </p:nvSpPr>
        <p:spPr>
          <a:xfrm>
            <a:off x="793790" y="1868924"/>
            <a:ext cx="87414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KiCad</a:t>
            </a: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&amp; </a:t>
            </a:r>
            <a:r>
              <a:rPr lang="en-US" sz="35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FreeCad</a:t>
            </a:r>
            <a:endParaRPr lang="en-US" sz="3550" dirty="0"/>
          </a:p>
        </p:txBody>
      </p:sp>
      <p:pic>
        <p:nvPicPr>
          <p:cNvPr id="20" name="Grafik 19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B16BEEC3-00D2-3AA6-AD16-EED3B64D5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249" y="0"/>
            <a:ext cx="9625902" cy="8229600"/>
          </a:xfrm>
          <a:prstGeom prst="rect">
            <a:avLst/>
          </a:prstGeom>
        </p:spPr>
      </p:pic>
      <p:pic>
        <p:nvPicPr>
          <p:cNvPr id="6" name="Grafik 5" descr="Ein Bild, das Werkzeug, Maschine, Elektrische Leitungen, Autoteile enthält.&#10;&#10;KI-generierte Inhalte können fehlerhaft sein.">
            <a:extLst>
              <a:ext uri="{FF2B5EF4-FFF2-40B4-BE49-F238E27FC236}">
                <a16:creationId xmlns:a16="http://schemas.microsoft.com/office/drawing/2014/main" id="{8376B3A9-9493-7542-FCF2-3A92D0D0F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394860" y="-180975"/>
            <a:ext cx="61722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5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D12F02-6EC7-7ACC-82E2-C930D984C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A50433-82AE-4929-9E7B-EE0935AD4484}"/>
              </a:ext>
            </a:extLst>
          </p:cNvPr>
          <p:cNvSpPr/>
          <p:nvPr/>
        </p:nvSpPr>
        <p:spPr>
          <a:xfrm>
            <a:off x="793790" y="1351955"/>
            <a:ext cx="1517452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7F615E-F97C-521B-2A24-6AA63D416883}"/>
              </a:ext>
            </a:extLst>
          </p:cNvPr>
          <p:cNvSpPr/>
          <p:nvPr/>
        </p:nvSpPr>
        <p:spPr>
          <a:xfrm>
            <a:off x="929878" y="1419939"/>
            <a:ext cx="12452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Fehler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509EFF-4785-7657-E68B-85D5D6C2A8A9}"/>
              </a:ext>
            </a:extLst>
          </p:cNvPr>
          <p:cNvSpPr/>
          <p:nvPr/>
        </p:nvSpPr>
        <p:spPr>
          <a:xfrm>
            <a:off x="793790" y="1868924"/>
            <a:ext cx="87414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Die Fehler </a:t>
            </a: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Wingdings" panose="05000000000000000000" pitchFamily="2" charset="2"/>
              </a:rPr>
              <a:t> (normal)</a:t>
            </a:r>
            <a:endParaRPr lang="en-US" sz="355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D4515DC-2315-F5AF-D833-689D309E5326}"/>
              </a:ext>
            </a:extLst>
          </p:cNvPr>
          <p:cNvSpPr txBox="1"/>
          <p:nvPr/>
        </p:nvSpPr>
        <p:spPr>
          <a:xfrm>
            <a:off x="793790" y="2736000"/>
            <a:ext cx="9545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AT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11E84A4-A96D-A4B7-D6E2-8FF5B0136652}"/>
              </a:ext>
            </a:extLst>
          </p:cNvPr>
          <p:cNvSpPr txBox="1"/>
          <p:nvPr/>
        </p:nvSpPr>
        <p:spPr>
          <a:xfrm>
            <a:off x="793790" y="2685600"/>
            <a:ext cx="111438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Code Fehler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Die SD-Karte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Das Gehäuse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Der Print</a:t>
            </a:r>
          </a:p>
          <a:p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0B2796B5-34EF-7F9D-F4E8-44E697609702}"/>
              </a:ext>
            </a:extLst>
          </p:cNvPr>
          <p:cNvSpPr/>
          <p:nvPr/>
        </p:nvSpPr>
        <p:spPr>
          <a:xfrm>
            <a:off x="793790" y="4213328"/>
            <a:ext cx="87414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Die Fehler </a:t>
            </a: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Wingdings" panose="05000000000000000000" pitchFamily="2" charset="2"/>
              </a:rPr>
              <a:t> (</a:t>
            </a:r>
            <a:r>
              <a:rPr lang="en-US" sz="35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Wingdings" panose="05000000000000000000" pitchFamily="2" charset="2"/>
              </a:rPr>
              <a:t>mystisch</a:t>
            </a: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Wingdings" panose="05000000000000000000" pitchFamily="2" charset="2"/>
              </a:rPr>
              <a:t>)</a:t>
            </a:r>
            <a:endParaRPr lang="en-US" sz="355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627F2D2-2F86-4AC6-868F-7192A98BA0F5}"/>
              </a:ext>
            </a:extLst>
          </p:cNvPr>
          <p:cNvSpPr txBox="1"/>
          <p:nvPr/>
        </p:nvSpPr>
        <p:spPr>
          <a:xfrm>
            <a:off x="793790" y="4780304"/>
            <a:ext cx="11143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Boot Loop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Das Verschwinden von Dateien</a:t>
            </a:r>
          </a:p>
          <a:p>
            <a:endParaRPr lang="de-AT" dirty="0">
              <a:solidFill>
                <a:schemeClr val="bg1"/>
              </a:solidFill>
            </a:endParaRPr>
          </a:p>
        </p:txBody>
      </p:sp>
      <p:pic>
        <p:nvPicPr>
          <p:cNvPr id="6" name="Grafik 5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ABD31D3B-EB8D-82FA-98D9-5D724DCE9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98" y="1571626"/>
            <a:ext cx="9466040" cy="522922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3258E37-3DD7-D072-9389-49F38EEA8254}"/>
              </a:ext>
            </a:extLst>
          </p:cNvPr>
          <p:cNvSpPr txBox="1"/>
          <p:nvPr/>
        </p:nvSpPr>
        <p:spPr>
          <a:xfrm>
            <a:off x="5468118" y="2953267"/>
            <a:ext cx="395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44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flash_nuke.uf2</a:t>
            </a:r>
            <a:endParaRPr lang="de-AT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87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50871"/>
            <a:ext cx="1667828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929878" y="1318855"/>
            <a:ext cx="13956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VISUALISIERUNG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67840"/>
            <a:ext cx="86198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Benutzeroberfläche: Das Live-Dashboard</a:t>
            </a:r>
            <a:endParaRPr lang="en-US" sz="3550" dirty="0"/>
          </a:p>
        </p:txBody>
      </p:sp>
      <p:pic>
        <p:nvPicPr>
          <p:cNvPr id="8" name="Grafik 7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F2CD2750-6704-F78A-6B50-7BC7333CA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693" y="0"/>
            <a:ext cx="4551014" cy="8229600"/>
          </a:xfrm>
          <a:prstGeom prst="rect">
            <a:avLst/>
          </a:prstGeom>
        </p:spPr>
      </p:pic>
      <p:pic>
        <p:nvPicPr>
          <p:cNvPr id="10" name="Grafik 9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FA4300C4-0B70-B481-D15C-F768CACD1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108" y="0"/>
            <a:ext cx="4582183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502343"/>
            <a:ext cx="102380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Vielen Dank für Ihre Aufmerksamkeit!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018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Zeit für Ihre Fragen.</a:t>
            </a:r>
            <a:endParaRPr lang="en-US" sz="2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Microsoft Office PowerPoint</Application>
  <PresentationFormat>Benutzerdefiniert</PresentationFormat>
  <Paragraphs>222</Paragraphs>
  <Slides>13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Roboto Slab</vt:lpstr>
      <vt:lpstr>Roboto Slab Light</vt:lpstr>
      <vt:lpstr>Arial</vt:lpstr>
      <vt:lpstr>Consolas</vt:lpstr>
      <vt:lpstr>Roboto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Baumann Markus (s5ahel)</cp:lastModifiedBy>
  <cp:revision>7</cp:revision>
  <cp:lastPrinted>2026-03-06T19:18:16Z</cp:lastPrinted>
  <dcterms:created xsi:type="dcterms:W3CDTF">2026-02-28T10:06:30Z</dcterms:created>
  <dcterms:modified xsi:type="dcterms:W3CDTF">2026-03-08T10:57:46Z</dcterms:modified>
</cp:coreProperties>
</file>